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0DC67-C7F6-414D-9708-96C5B560FED9}" type="datetimeFigureOut">
              <a:rPr lang="ru-RU" smtClean="0"/>
              <a:pPr/>
              <a:t>04.07.2026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7BBF5-46A8-4B2E-946B-D12CFA3CFC4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BaseImage/IsDeleted.jpg" TargetMode="External"/><Relationship Id="rId2" Type="http://schemas.openxmlformats.org/officeDocument/2006/relationships/hyperlink" Target="../BaseImage/Create%20Client%202.jpg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../BaseImage/PutClient.j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BaseImage/&#1048;&#1079;&#1084;&#1077;&#1085;&#1077;&#1085;&#1080;&#1077;%20&#1052;&#1072;&#1089;&#1090;&#1077;&#1088;&#1072;.jpg" TargetMode="External"/><Relationship Id="rId2" Type="http://schemas.openxmlformats.org/officeDocument/2006/relationships/hyperlink" Target="../BaseImage/&#1057;&#1086;&#1079;&#1076;&#1072;&#1085;&#1080;&#1077;%20&#1052;&#1072;&#1089;&#1090;&#1077;&#1088;&#1072;.jpg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../BaseImage/&#1059;&#1089;&#1083;&#1091;&#1075;&#1072;%20&#1048;&#1079;&#1084;&#1077;&#1085;&#1077;&#1085;&#1072;.jpg" TargetMode="Externa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ImageBOT/1.%20Start.png" TargetMode="External"/><Relationship Id="rId2" Type="http://schemas.openxmlformats.org/officeDocument/2006/relationships/hyperlink" Target="&#1055;&#1083;&#1072;&#1085;%20&#1076;&#1083;&#1103;%20&#1079;&#1072;&#1087;&#1080;&#1089;&#1080;.png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localhost:7023/api/Appointment/client/1002" TargetMode="External"/><Relationship Id="rId4" Type="http://schemas.openxmlformats.org/officeDocument/2006/relationships/hyperlink" Target="ImageBOT/&#1052;&#1072;&#1089;&#1090;&#1077;&#1088;-&#1050;&#1083;&#1080;&#1077;&#1085;&#1090;%20&#1041;&#1086;&#1090;.png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gitoreanec/ApiManicureStudi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0"/>
            <a:ext cx="7772400" cy="106536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Проект «Маникюрная студия»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568952" cy="5400600"/>
          </a:xfrm>
        </p:spPr>
        <p:txBody>
          <a:bodyPr>
            <a:noAutofit/>
          </a:bodyPr>
          <a:lstStyle/>
          <a:p>
            <a:pPr algn="l"/>
            <a:r>
              <a:rPr lang="ru-RU" sz="2000" u="sng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Мой проект — это </a:t>
            </a:r>
            <a:r>
              <a:rPr lang="en-US" sz="2000" u="sng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ASP.NET Core</a:t>
            </a:r>
            <a:r>
              <a:rPr lang="ru-RU" sz="2000" u="sng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 API и Telegram-бот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, которые вместе образуют систему для </a:t>
            </a:r>
            <a:r>
              <a:rPr lang="ru-RU" sz="2000" dirty="0" err="1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бьюти-специалистов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. Актуальность продиктована тем, что в индустрии до сих пор большая часть записи происходит через телефон и </a:t>
            </a:r>
            <a:r>
              <a:rPr lang="ru-RU" sz="2000" dirty="0" err="1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мессенджеры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, что отнимает массу времени у мастеров и клиентов. </a:t>
            </a:r>
          </a:p>
          <a:p>
            <a:pPr algn="l"/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На текущий момент платформа уже обеспечивает полный учет клиентов, мастеров, услуг и записей, а главное — позволяет клиенту записаться в один клик из Telegram.</a:t>
            </a:r>
            <a:endParaRPr lang="en-US" sz="2000" dirty="0" smtClean="0">
              <a:solidFill>
                <a:schemeClr val="tx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В ближайшем будущем </a:t>
            </a:r>
            <a:r>
              <a:rPr lang="ru-RU" sz="2000" u="sng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функционал будет расширен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: </a:t>
            </a:r>
            <a:endParaRPr lang="en-US" sz="2000" dirty="0" smtClean="0">
              <a:solidFill>
                <a:schemeClr val="tx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algn="l">
              <a:buFontTx/>
              <a:buChar char="-"/>
            </a:pP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добавятся автоматические уведомления, </a:t>
            </a:r>
            <a:endParaRPr lang="en-US" sz="2000" dirty="0" smtClean="0">
              <a:solidFill>
                <a:schemeClr val="tx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algn="l">
              <a:buFontTx/>
              <a:buChar char="-"/>
            </a:pP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синхронизация с календарем</a:t>
            </a: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,</a:t>
            </a:r>
          </a:p>
          <a:p>
            <a:pPr algn="l">
              <a:buFontTx/>
              <a:buChar char="-"/>
            </a:pP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резервное копирование данных.</a:t>
            </a:r>
            <a:endParaRPr lang="en-US" sz="2000" dirty="0" smtClean="0">
              <a:solidFill>
                <a:schemeClr val="tx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algn="l"/>
            <a:r>
              <a:rPr lang="ru-RU" sz="2000" b="1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Ключевым преимуществом 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является REST API. Он позволяет легко интегрировать систему с внешними сервисами</a:t>
            </a:r>
          </a:p>
          <a:p>
            <a:pPr algn="l"/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(</a:t>
            </a:r>
            <a:r>
              <a:rPr lang="ru-RU" sz="2000" dirty="0" err="1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веб-сайт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, </a:t>
            </a:r>
            <a:r>
              <a:rPr lang="ru-RU" sz="2000" dirty="0" err="1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моб.приложение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 и </a:t>
            </a:r>
            <a:r>
              <a:rPr lang="ru-RU" sz="2000" dirty="0" err="1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тп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).</a:t>
            </a:r>
          </a:p>
          <a:p>
            <a:pPr algn="l"/>
            <a:r>
              <a:rPr lang="ru-RU" sz="2000" b="1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Главная цель </a:t>
            </a:r>
            <a:r>
              <a:rPr lang="ru-RU" sz="20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— дать клиенту возможность записаться самостоятельно, в любое время суток и разгрузить мастера.</a:t>
            </a:r>
            <a:endParaRPr lang="ru-RU" sz="2000" dirty="0">
              <a:solidFill>
                <a:schemeClr val="tx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3068960"/>
            <a:ext cx="3960440" cy="2132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692696"/>
            <a:ext cx="3943497" cy="212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79512" y="404664"/>
            <a:ext cx="4752528" cy="454372"/>
          </a:xfrm>
        </p:spPr>
        <p:txBody>
          <a:bodyPr>
            <a:noAutofit/>
          </a:bodyPr>
          <a:lstStyle/>
          <a:p>
            <a:pPr algn="ctr"/>
            <a:r>
              <a:rPr lang="ru-RU" sz="2800" dirty="0" smtClean="0">
                <a:latin typeface="Arial" pitchFamily="34" charset="0"/>
                <a:cs typeface="Arial" pitchFamily="34" charset="0"/>
              </a:rPr>
              <a:t>Основные преимущества </a:t>
            </a:r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179512" y="1052737"/>
            <a:ext cx="4608512" cy="388843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sz="1300" b="1" dirty="0" smtClean="0">
                <a:latin typeface="Arial" pitchFamily="34" charset="0"/>
                <a:cs typeface="Arial" pitchFamily="34" charset="0"/>
              </a:rPr>
              <a:t>Единая база данных.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 Все контакты клиентов сохраняются навсегда. Мастеру больше не нужно вносить данные повторно при смене телефона или приложения.</a:t>
            </a:r>
          </a:p>
          <a:p>
            <a:pPr marL="342900" indent="-342900">
              <a:buAutoNum type="arabicPeriod"/>
            </a:pPr>
            <a:r>
              <a:rPr lang="ru-RU" sz="1300" b="1" dirty="0" smtClean="0">
                <a:latin typeface="Arial" pitchFamily="34" charset="0"/>
                <a:cs typeface="Arial" pitchFamily="34" charset="0"/>
              </a:rPr>
              <a:t>Нет платных подписок: 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Никаких скрытых платежей, комиссий и ежемесячной абонентской платы.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300" b="1" dirty="0" err="1" smtClean="0">
                <a:latin typeface="Arial" pitchFamily="34" charset="0"/>
                <a:cs typeface="Arial" pitchFamily="34" charset="0"/>
              </a:rPr>
              <a:t>Онлайн-запись</a:t>
            </a:r>
            <a:r>
              <a:rPr lang="en-US" sz="1300" b="1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sz="1300" dirty="0">
                <a:latin typeface="Arial" pitchFamily="34" charset="0"/>
                <a:cs typeface="Arial" pitchFamily="34" charset="0"/>
              </a:rPr>
              <a:t>Клиенты записываются сами 24/7 через удобную ссылку. Мастер не отвлекается 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на </a:t>
            </a:r>
            <a:r>
              <a:rPr lang="ru-RU" sz="1300" dirty="0">
                <a:latin typeface="Arial" pitchFamily="34" charset="0"/>
                <a:cs typeface="Arial" pitchFamily="34" charset="0"/>
              </a:rPr>
              <a:t>звонки и сообщения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300" b="1" dirty="0" smtClean="0">
                <a:latin typeface="Arial" pitchFamily="34" charset="0"/>
                <a:cs typeface="Arial" pitchFamily="34" charset="0"/>
              </a:rPr>
              <a:t>Универсальность. 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Всё, что сделано для мастеров маникюра, легко переориентировать под любую деятельность. Это достигается за счет гибкой архитектуры REST API.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300" b="1" dirty="0" smtClean="0">
                <a:latin typeface="Arial" pitchFamily="34" charset="0"/>
                <a:cs typeface="Arial" pitchFamily="34" charset="0"/>
              </a:rPr>
              <a:t>Гибкая архитектура</a:t>
            </a:r>
            <a:r>
              <a:rPr lang="ru-RU" sz="1300" b="1" dirty="0" smtClean="0"/>
              <a:t>.</a:t>
            </a:r>
            <a:r>
              <a:rPr lang="ru-RU" sz="1300" dirty="0" smtClean="0"/>
              <a:t> 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Благодаря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 REST API мы можем подключить к системе </a:t>
            </a:r>
            <a:r>
              <a:rPr lang="ru-RU" sz="1300" dirty="0" err="1" smtClean="0">
                <a:latin typeface="Arial" pitchFamily="34" charset="0"/>
                <a:cs typeface="Arial" pitchFamily="34" charset="0"/>
              </a:rPr>
              <a:t>веб-сайт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 и </a:t>
            </a:r>
            <a:r>
              <a:rPr lang="ru-RU" sz="1300" dirty="0" err="1" smtClean="0">
                <a:latin typeface="Arial" pitchFamily="34" charset="0"/>
                <a:cs typeface="Arial" pitchFamily="34" charset="0"/>
              </a:rPr>
              <a:t>тп</a:t>
            </a:r>
            <a:r>
              <a:rPr lang="ru-RU" sz="1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ru-RU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Заголовок 3"/>
          <p:cNvSpPr txBox="1">
            <a:spLocks/>
          </p:cNvSpPr>
          <p:nvPr/>
        </p:nvSpPr>
        <p:spPr>
          <a:xfrm>
            <a:off x="899592" y="4797152"/>
            <a:ext cx="3152329" cy="4543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sz="2000" b="1" dirty="0">
                <a:latin typeface="Arial" pitchFamily="34" charset="0"/>
                <a:ea typeface="+mj-ea"/>
                <a:cs typeface="Arial" pitchFamily="34" charset="0"/>
              </a:rPr>
              <a:t>Известные аналоги</a:t>
            </a:r>
          </a:p>
        </p:txBody>
      </p:sp>
      <p:sp>
        <p:nvSpPr>
          <p:cNvPr id="8" name="Текст 5"/>
          <p:cNvSpPr txBox="1">
            <a:spLocks/>
          </p:cNvSpPr>
          <p:nvPr/>
        </p:nvSpPr>
        <p:spPr>
          <a:xfrm>
            <a:off x="827584" y="5373216"/>
            <a:ext cx="3008313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ct val="20000"/>
              </a:spcBef>
              <a:buFontTx/>
              <a:buChar char="-"/>
            </a:pPr>
            <a:r>
              <a:rPr lang="ru-RU" sz="1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Masters</a:t>
            </a:r>
            <a:endParaRPr lang="ru-RU" sz="1400" b="1" dirty="0">
              <a:latin typeface="Arial" pitchFamily="34" charset="0"/>
              <a:cs typeface="Arial" pitchFamily="34" charset="0"/>
            </a:endParaRPr>
          </a:p>
          <a:p>
            <a:pPr lvl="0">
              <a:spcBef>
                <a:spcPct val="20000"/>
              </a:spcBef>
              <a:buFontTx/>
              <a:buChar char="-"/>
            </a:pPr>
            <a:r>
              <a:rPr lang="ru-RU" sz="1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Beauty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Agent</a:t>
            </a:r>
            <a:endParaRPr lang="ru-RU" sz="1400" b="1" dirty="0" smtClean="0">
              <a:latin typeface="Arial" pitchFamily="34" charset="0"/>
              <a:cs typeface="Arial" pitchFamily="34" charset="0"/>
            </a:endParaRPr>
          </a:p>
          <a:p>
            <a:pPr lvl="0">
              <a:spcBef>
                <a:spcPct val="20000"/>
              </a:spcBef>
              <a:buFontTx/>
              <a:buChar char="-"/>
            </a:pPr>
            <a:r>
              <a:rPr lang="ru-RU" sz="1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400" b="1" dirty="0">
                <a:latin typeface="Arial" pitchFamily="34" charset="0"/>
                <a:cs typeface="Arial" pitchFamily="34" charset="0"/>
              </a:rPr>
              <a:t>Мой</a:t>
            </a:r>
            <a:r>
              <a:rPr lang="ru-RU" sz="1400" b="1" dirty="0" smtClean="0">
                <a:latin typeface="Arial" pitchFamily="34" charset="0"/>
                <a:cs typeface="Arial" pitchFamily="34" charset="0"/>
              </a:rPr>
              <a:t> Профиль</a:t>
            </a:r>
            <a:endParaRPr lang="ru-RU" sz="14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Arial" pitchFamily="34" charset="0"/>
                <a:cs typeface="Arial" pitchFamily="34" charset="0"/>
              </a:rPr>
              <a:t>Недостатки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У проекта есть и ограничения.</a:t>
            </a:r>
          </a:p>
          <a:p>
            <a:pPr marL="514350" indent="-514350"/>
            <a:r>
              <a:rPr lang="ru-RU" sz="2000" b="1" dirty="0" smtClean="0">
                <a:latin typeface="Arial" pitchFamily="34" charset="0"/>
                <a:cs typeface="Arial" pitchFamily="34" charset="0"/>
              </a:rPr>
              <a:t>Зависимость от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Telegram</a:t>
            </a:r>
            <a:r>
              <a:rPr lang="ru-RU" sz="2000" b="1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sz="2000" dirty="0" smtClean="0"/>
              <a:t>Если у клиента нет </a:t>
            </a:r>
            <a:r>
              <a:rPr lang="ru-RU" sz="2000" dirty="0" err="1" smtClean="0"/>
              <a:t>Телеграма</a:t>
            </a:r>
            <a:r>
              <a:rPr lang="ru-RU" sz="2000" dirty="0" smtClean="0"/>
              <a:t>)</a:t>
            </a:r>
            <a:endParaRPr lang="ru-RU" sz="20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ru-RU" sz="2000" b="1" dirty="0" smtClean="0">
                <a:latin typeface="Arial" pitchFamily="34" charset="0"/>
                <a:cs typeface="Arial" pitchFamily="34" charset="0"/>
              </a:rPr>
              <a:t>Отсутствие живого общения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(но есть комментарии)</a:t>
            </a:r>
          </a:p>
          <a:p>
            <a:pPr marL="514350" indent="-514350"/>
            <a:r>
              <a:rPr lang="ru-RU" sz="2000" b="1" dirty="0" smtClean="0">
                <a:latin typeface="Arial" pitchFamily="34" charset="0"/>
                <a:cs typeface="Arial" pitchFamily="34" charset="0"/>
              </a:rPr>
              <a:t>Техническая зависимость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 smtClean="0"/>
              <a:t> работает через интернет и </a:t>
            </a:r>
            <a:r>
              <a:rPr lang="en-US" sz="2000" dirty="0" smtClean="0"/>
              <a:t>VPN</a:t>
            </a:r>
            <a:r>
              <a:rPr lang="ru-RU" sz="2000" dirty="0" smtClean="0"/>
              <a:t>)</a:t>
            </a:r>
            <a:endParaRPr lang="ru-RU" sz="20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/>
            <a:r>
              <a:rPr lang="ru-RU" sz="2000" b="1" dirty="0" smtClean="0">
                <a:latin typeface="Arial" pitchFamily="34" charset="0"/>
                <a:cs typeface="Arial" pitchFamily="34" charset="0"/>
              </a:rPr>
              <a:t>Юридические </a:t>
            </a:r>
            <a:r>
              <a:rPr lang="ru-RU" sz="2000" dirty="0" smtClean="0"/>
              <a:t>(соответствие 152-ФЗ)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Arial" pitchFamily="34" charset="0"/>
                <a:cs typeface="Arial" pitchFamily="34" charset="0"/>
              </a:rPr>
              <a:t>🛠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 Стек технологий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2800" dirty="0" smtClean="0">
                <a:latin typeface="Arial" pitchFamily="34" charset="0"/>
                <a:ea typeface="+mj-ea"/>
                <a:cs typeface="Arial" pitchFamily="34" charset="0"/>
              </a:rPr>
              <a:t>Entity Framework Core</a:t>
            </a:r>
          </a:p>
          <a:p>
            <a:pPr marL="514350" indent="-514350"/>
            <a:r>
              <a:rPr lang="en-US" sz="2800" dirty="0" smtClean="0">
                <a:latin typeface="Arial" pitchFamily="34" charset="0"/>
                <a:ea typeface="+mj-ea"/>
                <a:cs typeface="Arial" pitchFamily="34" charset="0"/>
              </a:rPr>
              <a:t>ASP NET Core</a:t>
            </a:r>
          </a:p>
          <a:p>
            <a:pPr marL="514350" indent="-514350"/>
            <a:r>
              <a:rPr lang="ru-RU" sz="2800" dirty="0" smtClean="0">
                <a:latin typeface="Arial" pitchFamily="34" charset="0"/>
                <a:ea typeface="+mj-ea"/>
                <a:cs typeface="Arial" pitchFamily="34" charset="0"/>
              </a:rPr>
              <a:t>БД -</a:t>
            </a:r>
            <a:r>
              <a:rPr lang="en-US" sz="2800" dirty="0" smtClean="0">
                <a:latin typeface="Arial" pitchFamily="34" charset="0"/>
                <a:ea typeface="+mj-ea"/>
                <a:cs typeface="Arial" pitchFamily="34" charset="0"/>
              </a:rPr>
              <a:t>&gt; SQL Server</a:t>
            </a:r>
          </a:p>
          <a:p>
            <a:pPr marL="514350" indent="-514350"/>
            <a:r>
              <a:rPr lang="en-US" sz="2800" dirty="0" smtClean="0">
                <a:latin typeface="Arial" pitchFamily="34" charset="0"/>
                <a:ea typeface="+mj-ea"/>
                <a:cs typeface="Arial" pitchFamily="34" charset="0"/>
              </a:rPr>
              <a:t>SWAGGER / </a:t>
            </a:r>
            <a:r>
              <a:rPr lang="en-US" sz="2800" dirty="0" err="1" smtClean="0">
                <a:latin typeface="Arial" pitchFamily="34" charset="0"/>
                <a:ea typeface="+mj-ea"/>
                <a:cs typeface="Arial" pitchFamily="34" charset="0"/>
              </a:rPr>
              <a:t>OpenAPI</a:t>
            </a:r>
            <a:endParaRPr lang="ru-RU" sz="2800" dirty="0" smtClean="0">
              <a:latin typeface="Arial" pitchFamily="34" charset="0"/>
              <a:ea typeface="+mj-ea"/>
              <a:cs typeface="Arial" pitchFamily="34" charset="0"/>
            </a:endParaRPr>
          </a:p>
          <a:p>
            <a:pPr marL="514350" indent="-514350"/>
            <a:r>
              <a:rPr lang="en-US" sz="2800" dirty="0" smtClean="0">
                <a:latin typeface="Arial" pitchFamily="34" charset="0"/>
                <a:cs typeface="Arial" pitchFamily="34" charset="0"/>
              </a:rPr>
              <a:t>Telegram</a:t>
            </a:r>
            <a:endParaRPr lang="ru-RU" sz="2800" dirty="0" smtClean="0">
              <a:latin typeface="Arial" pitchFamily="34" charset="0"/>
              <a:ea typeface="+mj-ea"/>
              <a:cs typeface="Arial" pitchFamily="34" charset="0"/>
            </a:endParaRPr>
          </a:p>
          <a:p>
            <a:pPr marL="514350" indent="-514350">
              <a:buNone/>
            </a:pPr>
            <a:r>
              <a:rPr lang="ru-RU" sz="2800" dirty="0" smtClean="0">
                <a:latin typeface="Arial" pitchFamily="34" charset="0"/>
                <a:ea typeface="+mj-ea"/>
                <a:cs typeface="Arial" pitchFamily="34" charset="0"/>
              </a:rPr>
              <a:t>Библиотеки</a:t>
            </a:r>
            <a:r>
              <a:rPr lang="en-US" sz="2800" dirty="0" smtClean="0">
                <a:latin typeface="Arial" pitchFamily="34" charset="0"/>
                <a:ea typeface="+mj-ea"/>
                <a:cs typeface="Arial" pitchFamily="34" charset="0"/>
              </a:rPr>
              <a:t>:</a:t>
            </a:r>
          </a:p>
          <a:p>
            <a:pPr marL="514350" indent="-514350"/>
            <a:r>
              <a:rPr lang="en-US" sz="2800" dirty="0" err="1" smtClean="0">
                <a:latin typeface="Arial" pitchFamily="34" charset="0"/>
                <a:ea typeface="+mj-ea"/>
                <a:cs typeface="Arial" pitchFamily="34" charset="0"/>
              </a:rPr>
              <a:t>Telegram.Bot</a:t>
            </a:r>
            <a:endParaRPr lang="en-US" sz="2800" dirty="0" smtClean="0">
              <a:latin typeface="Arial" pitchFamily="34" charset="0"/>
              <a:ea typeface="+mj-ea"/>
              <a:cs typeface="Arial" pitchFamily="34" charset="0"/>
            </a:endParaRPr>
          </a:p>
          <a:p>
            <a:pPr marL="514350" indent="-514350"/>
            <a:r>
              <a:rPr lang="en-US" sz="2800" dirty="0" err="1" smtClean="0">
                <a:latin typeface="Arial" pitchFamily="34" charset="0"/>
                <a:ea typeface="+mj-ea"/>
                <a:cs typeface="Arial" pitchFamily="34" charset="0"/>
              </a:rPr>
              <a:t>InlineKeyboard</a:t>
            </a:r>
            <a:endParaRPr lang="en-US" sz="2800" dirty="0" smtClean="0">
              <a:latin typeface="Arial" pitchFamily="34" charset="0"/>
              <a:ea typeface="+mj-ea"/>
              <a:cs typeface="Arial" pitchFamily="34" charset="0"/>
            </a:endParaRPr>
          </a:p>
          <a:p>
            <a:pPr marL="514350" indent="-514350"/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NuGet</a:t>
            </a:r>
            <a:r>
              <a:rPr lang="en-US" dirty="0" smtClean="0"/>
              <a:t> </a:t>
            </a:r>
            <a:r>
              <a:rPr lang="ru-RU" dirty="0" smtClean="0"/>
              <a:t>пакеты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Microsoft.EntityFrameworkCore</a:t>
            </a:r>
            <a:r>
              <a:rPr lang="ru-RU" sz="2000" dirty="0" smtClean="0"/>
              <a:t> – 9.0.16</a:t>
            </a:r>
          </a:p>
          <a:p>
            <a:r>
              <a:rPr lang="en-US" sz="2000" dirty="0" err="1" smtClean="0"/>
              <a:t>Microsoft.EntityFrameworkCore.SqlServer</a:t>
            </a:r>
            <a:r>
              <a:rPr lang="ru-RU" sz="2000" dirty="0" smtClean="0"/>
              <a:t> – 9.0.16</a:t>
            </a:r>
          </a:p>
          <a:p>
            <a:r>
              <a:rPr lang="en-US" sz="2000" dirty="0" err="1" smtClean="0"/>
              <a:t>Microsoft.EntityFrameworkCore.Tools</a:t>
            </a:r>
            <a:r>
              <a:rPr lang="ru-RU" sz="2000" dirty="0" smtClean="0"/>
              <a:t> </a:t>
            </a:r>
          </a:p>
          <a:p>
            <a:r>
              <a:rPr lang="en-US" sz="2000" dirty="0" smtClean="0"/>
              <a:t>Microsoft.Extensions.Diagnostics.HealthChecks.EntityFrameworkCore</a:t>
            </a:r>
          </a:p>
          <a:p>
            <a:r>
              <a:rPr lang="en-US" sz="2000" dirty="0" err="1" smtClean="0"/>
              <a:t>Newtonsoft.Json</a:t>
            </a:r>
            <a:r>
              <a:rPr lang="en-US" sz="2000" dirty="0" smtClean="0"/>
              <a:t> – 13.0.4</a:t>
            </a:r>
          </a:p>
          <a:p>
            <a:r>
              <a:rPr lang="en-US" sz="2000" dirty="0" err="1" smtClean="0"/>
              <a:t>Serilog</a:t>
            </a:r>
            <a:r>
              <a:rPr lang="en-US" sz="2000" dirty="0" smtClean="0"/>
              <a:t> – 4.3.1</a:t>
            </a:r>
          </a:p>
          <a:p>
            <a:r>
              <a:rPr lang="en-US" sz="2000" dirty="0" err="1" smtClean="0"/>
              <a:t>Swashbuckle.AspNetCore</a:t>
            </a:r>
            <a:r>
              <a:rPr lang="en-US" sz="2000" dirty="0" smtClean="0"/>
              <a:t> (swagger) – 7.3.2</a:t>
            </a:r>
          </a:p>
          <a:p>
            <a:r>
              <a:rPr lang="en-US" sz="2000" dirty="0" err="1" smtClean="0"/>
              <a:t>Swashbuckle.AspNetCore.Annotations</a:t>
            </a:r>
            <a:endParaRPr lang="en-US" sz="2000" dirty="0" smtClean="0"/>
          </a:p>
          <a:p>
            <a:r>
              <a:rPr lang="en-US" sz="2000" dirty="0" err="1" smtClean="0"/>
              <a:t>Telegram.Bot</a:t>
            </a:r>
            <a:r>
              <a:rPr lang="en-US" sz="2000" dirty="0" smtClean="0"/>
              <a:t> – 22.10.1</a:t>
            </a:r>
            <a:endParaRPr lang="ru-RU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( </a:t>
            </a:r>
            <a:r>
              <a:rPr lang="ru-RU" sz="2000" dirty="0" smtClean="0"/>
              <a:t>основные пакеты для работы приложения, и версии для работоспособности)</a:t>
            </a:r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707678"/>
          </a:xfrm>
        </p:spPr>
        <p:txBody>
          <a:bodyPr/>
          <a:lstStyle/>
          <a:p>
            <a:pPr algn="ctr"/>
            <a:r>
              <a:rPr lang="ru-RU" dirty="0" smtClean="0">
                <a:latin typeface="Arial" pitchFamily="34" charset="0"/>
                <a:cs typeface="Arial" pitchFamily="34" charset="0"/>
              </a:rPr>
              <a:t>Структура проекта </a:t>
            </a:r>
            <a:br>
              <a:rPr lang="ru-RU" dirty="0" smtClean="0">
                <a:latin typeface="Arial" pitchFamily="34" charset="0"/>
                <a:cs typeface="Arial" pitchFamily="34" charset="0"/>
              </a:rPr>
            </a:b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836712"/>
            <a:ext cx="5111750" cy="5289451"/>
          </a:xfrm>
        </p:spPr>
        <p:txBody>
          <a:bodyPr/>
          <a:lstStyle/>
          <a:p>
            <a:r>
              <a:rPr lang="ru-RU" sz="2000" b="1" dirty="0" smtClean="0">
                <a:latin typeface="Arial" pitchFamily="34" charset="0"/>
                <a:cs typeface="Arial" pitchFamily="34" charset="0"/>
              </a:rPr>
              <a:t>БАЗА ДАННЫХ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980728"/>
            <a:ext cx="3008313" cy="5145435"/>
          </a:xfrm>
        </p:spPr>
        <p:txBody>
          <a:bodyPr>
            <a:normAutofit/>
          </a:bodyPr>
          <a:lstStyle/>
          <a:p>
            <a:pPr marL="342900" indent="-342900" algn="ctr"/>
            <a:r>
              <a:rPr lang="ru-RU" sz="2400" b="1" dirty="0" smtClean="0">
                <a:latin typeface="Arial" pitchFamily="34" charset="0"/>
                <a:cs typeface="Arial" pitchFamily="34" charset="0"/>
              </a:rPr>
              <a:t>Сущности</a:t>
            </a: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err="1" smtClean="0">
                <a:latin typeface="Arial" pitchFamily="34" charset="0"/>
                <a:cs typeface="Arial" pitchFamily="34" charset="0"/>
              </a:rPr>
              <a:t>BaseEntity</a:t>
            </a: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Client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Master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636912"/>
            <a:ext cx="4889831" cy="1538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4293096"/>
            <a:ext cx="5873652" cy="215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79912" y="1268760"/>
            <a:ext cx="4645249" cy="109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332656"/>
            <a:ext cx="2962672" cy="6336704"/>
          </a:xfrm>
        </p:spPr>
        <p:txBody>
          <a:bodyPr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Service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Appointment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Appointment</a:t>
            </a:r>
          </a:p>
          <a:p>
            <a:pPr marL="342900" indent="-342900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Service</a:t>
            </a:r>
          </a:p>
          <a:p>
            <a:pPr marL="342900" indent="-342900"/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Master</a:t>
            </a:r>
          </a:p>
          <a:p>
            <a:pPr marL="342900" indent="-342900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Service</a:t>
            </a:r>
          </a:p>
          <a:p>
            <a:pPr marL="342900" indent="-342900"/>
            <a:endParaRPr lang="en-US" sz="1800" b="1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Service Category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88640"/>
            <a:ext cx="5273429" cy="139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628800"/>
            <a:ext cx="5328592" cy="161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5816" y="3284984"/>
            <a:ext cx="4941153" cy="122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15816" y="4581128"/>
            <a:ext cx="2546797" cy="105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15816" y="5805264"/>
            <a:ext cx="3460254" cy="79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4402832" cy="779686"/>
          </a:xfrm>
        </p:spPr>
        <p:txBody>
          <a:bodyPr>
            <a:noAutofit/>
          </a:bodyPr>
          <a:lstStyle/>
          <a:p>
            <a:pPr algn="ctr"/>
            <a:r>
              <a:rPr lang="ru-RU" sz="2800" dirty="0" smtClean="0">
                <a:latin typeface="Arial" pitchFamily="34" charset="0"/>
                <a:cs typeface="Arial" pitchFamily="34" charset="0"/>
              </a:rPr>
              <a:t>Схема базы данных</a:t>
            </a:r>
            <a:br>
              <a:rPr lang="ru-RU" sz="2800" dirty="0" smtClean="0">
                <a:latin typeface="Arial" pitchFamily="34" charset="0"/>
                <a:cs typeface="Arial" pitchFamily="34" charset="0"/>
              </a:rPr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2400" dirty="0" smtClean="0"/>
          </a:p>
          <a:p>
            <a:pPr algn="ctr"/>
            <a:r>
              <a:rPr lang="ru-RU" sz="2400" dirty="0" smtClean="0"/>
              <a:t>Диаграмма БД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512" y="1124744"/>
            <a:ext cx="4464496" cy="5051103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Clients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 (Клиенты)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Masters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(Мастера)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Services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 (Услуги)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Appointments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(Записи на приём)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AppointmentServices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(Услуги в записи)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MasterServices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 (Услуги мастера)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ServiceCategories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Категории услуг)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–&gt;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далее для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Telegram 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Таблица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TelegramUsers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Пользователи системы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 descr="B:\Проект\BaseImage\Снимок Диаграммы Базы 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8515" y="1268760"/>
            <a:ext cx="6305485" cy="42930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779686"/>
          </a:xfrm>
        </p:spPr>
        <p:txBody>
          <a:bodyPr>
            <a:no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Структура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REST API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124744"/>
            <a:ext cx="3008313" cy="5001419"/>
          </a:xfrm>
        </p:spPr>
        <p:txBody>
          <a:bodyPr>
            <a:normAutofit/>
          </a:bodyPr>
          <a:lstStyle/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Controllers</a:t>
            </a:r>
            <a:endParaRPr lang="ru-RU" sz="1600" b="1" dirty="0" smtClean="0">
              <a:latin typeface="Arial" pitchFamily="34" charset="0"/>
              <a:cs typeface="Arial" pitchFamily="34" charset="0"/>
            </a:endParaRPr>
          </a:p>
          <a:p>
            <a:pPr algn="r"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AdminController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("status")]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/Admin/status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("statistics")]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321532"/>
            <a:ext cx="4320480" cy="3107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3429000"/>
            <a:ext cx="4320480" cy="3174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91654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ClientsController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88024" y="188640"/>
            <a:ext cx="4104456" cy="6408712"/>
          </a:xfrm>
          <a:noFill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2" action="ppaction://hlinkfile"/>
              </a:rPr>
              <a:t>Post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1800" dirty="0" smtClean="0">
                <a:latin typeface="Arial" pitchFamily="34" charset="0"/>
                <a:cs typeface="Arial" pitchFamily="34" charset="0"/>
                <a:hlinkClick r:id="rId3" action="ppaction://hlinkfile"/>
              </a:rPr>
              <a:t>Клиент 2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4" action="ppaction://hlinkfile"/>
              </a:rPr>
              <a:t>Put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3" action="ppaction://hlinkfile"/>
              </a:rPr>
              <a:t>DELETE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528" y="836712"/>
            <a:ext cx="4248472" cy="5289451"/>
          </a:xfrm>
        </p:spPr>
        <p:txBody>
          <a:bodyPr/>
          <a:lstStyle/>
          <a:p>
            <a:pPr algn="just"/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[HttpGet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	      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api/Clients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    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/Clients/1002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r>
              <a:rPr lang="ru-RU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("phone/{phone}")]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r"/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/Clients/phone/89214443321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HttpPost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HttpPut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("{id}")]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/Clients/3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HttpDelete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err="1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ru-RU" dirty="0" smtClean="0">
                <a:latin typeface="Arial" pitchFamily="34" charset="0"/>
                <a:cs typeface="Arial" pitchFamily="34" charset="0"/>
              </a:rPr>
              <a:t>			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91654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MastersController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88024" y="188640"/>
            <a:ext cx="4104456" cy="6408712"/>
          </a:xfrm>
          <a:noFill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2" action="ppaction://hlinkfile"/>
              </a:rPr>
              <a:t>Post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3" action="ppaction://hlinkfile"/>
              </a:rPr>
              <a:t>Put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3" action="ppaction://hlinkfile"/>
              </a:rPr>
              <a:t>DELETE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528" y="836712"/>
            <a:ext cx="4464496" cy="5289451"/>
          </a:xfrm>
        </p:spPr>
        <p:txBody>
          <a:bodyPr/>
          <a:lstStyle/>
          <a:p>
            <a:pPr algn="just"/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[HttpGet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	      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/Masters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  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 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/Masters/3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("by-service/{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serviceId:int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</a:p>
          <a:p>
            <a:pPr algn="r"/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/Masters/by-service/2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HttpPost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HttpPut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</a:p>
          <a:p>
            <a:pPr algn="r"/>
            <a:r>
              <a:rPr lang="en-US" sz="16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/Masters/3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HttpDelete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}/availability")]</a:t>
            </a:r>
          </a:p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	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/Masters/1/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availability?start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=2026-07-04T10%3A00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91654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ServicesController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88024" y="188640"/>
            <a:ext cx="4104456" cy="6408712"/>
          </a:xfrm>
          <a:noFill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1800" dirty="0" smtClean="0">
                <a:latin typeface="Arial" pitchFamily="34" charset="0"/>
                <a:cs typeface="Arial" pitchFamily="34" charset="0"/>
                <a:hlinkClick r:id="rId2" action="ppaction://hlinkfile"/>
              </a:rPr>
              <a:t>DELETE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528" y="836712"/>
            <a:ext cx="4248472" cy="5289451"/>
          </a:xfrm>
        </p:spPr>
        <p:txBody>
          <a:bodyPr/>
          <a:lstStyle/>
          <a:p>
            <a:pPr algn="just"/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[HttpGet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	      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/Services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	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/Services/4</a:t>
            </a:r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("category/{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categoryId:int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r"/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/Services/category/4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HttpPost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]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HttpPut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("{id}")]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/Clients/3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HttpDelete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err="1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ru-RU" dirty="0" smtClean="0">
                <a:latin typeface="Arial" pitchFamily="34" charset="0"/>
                <a:cs typeface="Arial" pitchFamily="34" charset="0"/>
              </a:rPr>
              <a:t>			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3008313" cy="491654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AppointmentController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139952" y="404664"/>
            <a:ext cx="4248472" cy="5289451"/>
          </a:xfrm>
        </p:spPr>
        <p:txBody>
          <a:bodyPr/>
          <a:lstStyle/>
          <a:p>
            <a:pPr algn="just"/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id:int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	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    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/Appointment/4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ru-RU" dirty="0" err="1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("master/{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masterId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}")]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r"/>
            <a:r>
              <a:rPr lang="ru-RU" dirty="0" smtClean="0">
                <a:latin typeface="Arial" pitchFamily="34" charset="0"/>
                <a:cs typeface="Arial" pitchFamily="34" charset="0"/>
              </a:rPr>
              <a:t> 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/Appointment/master/1?date=2026-07-04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algn="r"/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[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HttpGet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("upcoming")]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api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/Appointment/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upcoming?hoursAhead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=24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ru-RU" sz="1600" dirty="0" err="1" smtClean="0">
              <a:latin typeface="Arial" pitchFamily="34" charset="0"/>
              <a:cs typeface="Arial" pitchFamily="34" charset="0"/>
            </a:endParaRPr>
          </a:p>
          <a:p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ru-RU" dirty="0" smtClean="0">
                <a:latin typeface="Arial" pitchFamily="34" charset="0"/>
                <a:cs typeface="Arial" pitchFamily="34" charset="0"/>
              </a:rPr>
              <a:t>			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357376"/>
            <a:ext cx="6192688" cy="43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3008313" cy="70767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 smtClean="0">
                <a:latin typeface="Arial" pitchFamily="34" charset="0"/>
                <a:cs typeface="Arial" pitchFamily="34" charset="0"/>
                <a:hlinkClick r:id="rId2" action="ppaction://hlinkfile"/>
              </a:rPr>
              <a:t>Блок-схема</a:t>
            </a:r>
            <a:endParaRPr lang="ru-RU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63888" y="188640"/>
            <a:ext cx="5317430" cy="5964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1) Клиент получает приветствие и описание.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2) Выбор : 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✅ Услуг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✅ Отображение категорий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3) Если выбрал "ДА" Переход к Желаемому через БД запрос / "НЕТ" возврат блок 4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4) Клиенту приходит напоминание для выбора действия (чат сохраняется 24ч)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5) Показывает список УСЛУГ 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6) Клиент выбрал услугу? Да/Нет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7) (нет) Переход на "5"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8) (ДА) Отображение списка доступных мастеров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9) Клиент выбрал мастеров? Да/Нет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10) (ДА) Отображение календаря и свободных окон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11) (нет) Переход на "8"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11) Клиент выбрал Дату и время? Да/Нет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13) (ДА) Регистрация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14) (нет) Переход на "10"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15) Регистрация (Имя, Телефон)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16) Клиент зарегистрирован? Да/Нет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17) (ДА) Проверка в БД по номеру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18) (нет) Регистрация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19) Клик по кнопке "Записаться"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20) "Проверка" Слот времени еще свободен в БД?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21) Время еще доступно? Да/Нет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22) (нет) Переход на "11"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23) (ДА) Запись строки в БД "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Appointments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24) Telegram уведомления клиенту и мастеру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25) "Вы успешно записаны!"</a:t>
            </a:r>
          </a:p>
          <a:p>
            <a:pPr>
              <a:buNone/>
            </a:pPr>
            <a:r>
              <a:rPr lang="ru-RU" sz="1100" dirty="0" smtClean="0">
                <a:latin typeface="Arial" pitchFamily="34" charset="0"/>
                <a:cs typeface="Arial" pitchFamily="34" charset="0"/>
              </a:rPr>
              <a:t>26) FINISH</a:t>
            </a:r>
          </a:p>
          <a:p>
            <a:pPr>
              <a:buNone/>
            </a:pPr>
            <a:endParaRPr lang="ru-RU" sz="11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5554960" cy="5162252"/>
          </a:xfrm>
        </p:spPr>
        <p:txBody>
          <a:bodyPr>
            <a:normAutofit fontScale="85000" lnSpcReduction="10000"/>
          </a:bodyPr>
          <a:lstStyle/>
          <a:p>
            <a:r>
              <a:rPr lang="ru-RU" sz="1800" dirty="0" smtClean="0">
                <a:latin typeface="Arial" pitchFamily="34" charset="0"/>
                <a:cs typeface="Arial" pitchFamily="34" charset="0"/>
                <a:hlinkClick r:id="rId3" action="ppaction://hlinkfile"/>
              </a:rPr>
              <a:t>Старт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1800" dirty="0" smtClean="0">
                <a:latin typeface="Arial" pitchFamily="34" charset="0"/>
                <a:cs typeface="Arial" pitchFamily="34" charset="0"/>
                <a:hlinkClick r:id="rId4" action="ppaction://hlinkfile"/>
              </a:rPr>
              <a:t>Мастер-Клиент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100" dirty="0" smtClean="0">
                <a:latin typeface="Arial" pitchFamily="34" charset="0"/>
                <a:cs typeface="Arial" pitchFamily="34" charset="0"/>
                <a:hlinkClick r:id="rId5"/>
              </a:rPr>
              <a:t>https://localhost:7023/api/Appointment/client/1002</a:t>
            </a:r>
            <a:endParaRPr lang="ru-RU" sz="2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ru-RU" sz="4800" dirty="0" smtClean="0">
                <a:latin typeface="Arial" pitchFamily="34" charset="0"/>
                <a:cs typeface="Arial" pitchFamily="34" charset="0"/>
              </a:rPr>
              <a:t>Заключение</a:t>
            </a:r>
            <a:endParaRPr lang="ru-RU" sz="4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376264"/>
          </a:xfrm>
        </p:spPr>
        <p:txBody>
          <a:bodyPr>
            <a:normAutofit/>
          </a:bodyPr>
          <a:lstStyle/>
          <a:p>
            <a:r>
              <a:rPr lang="ru-RU" sz="2000" b="1" u="sng" dirty="0" smtClean="0"/>
              <a:t>Цель проекта</a:t>
            </a:r>
            <a:r>
              <a:rPr lang="ru-RU" sz="2000" dirty="0" smtClean="0"/>
              <a:t> — упростить запись клиентов и разгрузить мастеров — </a:t>
            </a:r>
            <a:r>
              <a:rPr lang="ru-RU" sz="2000" b="1" dirty="0" smtClean="0"/>
              <a:t>достигнута</a:t>
            </a:r>
            <a:r>
              <a:rPr lang="ru-RU" sz="2000" dirty="0" smtClean="0"/>
              <a:t>. Мы создали работающее ядро системы: REST API на C# с полной </a:t>
            </a:r>
            <a:r>
              <a:rPr lang="ru-RU" sz="2000" dirty="0" err="1" smtClean="0"/>
              <a:t>бизнес-логикой</a:t>
            </a:r>
            <a:r>
              <a:rPr lang="ru-RU" sz="2000" dirty="0" smtClean="0"/>
              <a:t>, Telegram-бота для удобного интерфейса и базу данных для хранения всей информации.</a:t>
            </a:r>
          </a:p>
          <a:p>
            <a:r>
              <a:rPr lang="ru-RU" sz="2000" dirty="0" smtClean="0"/>
              <a:t>Реализовали ключевой функционал: просмотр свободных слотов, выбор мастера и услуги, создание записи, а также заложили архитектуру, которая позволит легко расширять систему в будущем.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Заголовок 4"/>
          <p:cNvSpPr txBox="1">
            <a:spLocks/>
          </p:cNvSpPr>
          <p:nvPr/>
        </p:nvSpPr>
        <p:spPr>
          <a:xfrm>
            <a:off x="539552" y="328498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Проблемы и Решения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9" name="Содержимое 5"/>
          <p:cNvSpPr txBox="1">
            <a:spLocks/>
          </p:cNvSpPr>
          <p:nvPr/>
        </p:nvSpPr>
        <p:spPr>
          <a:xfrm>
            <a:off x="395536" y="3861048"/>
            <a:ext cx="4032448" cy="28083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Запись</a:t>
            </a:r>
            <a:r>
              <a:rPr kumimoji="0" lang="ru-RU" sz="16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клиентов </a:t>
            </a:r>
            <a:r>
              <a:rPr kumimoji="0" lang="ru-RU" sz="160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Одновременно</a:t>
            </a:r>
            <a:r>
              <a:rPr kumimoji="0" lang="ru-RU" sz="16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160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Возможные </a:t>
            </a:r>
            <a:r>
              <a:rPr lang="ru-RU" sz="1600" dirty="0" err="1" smtClean="0">
                <a:latin typeface="Arial" pitchFamily="34" charset="0"/>
                <a:cs typeface="Arial" pitchFamily="34" charset="0"/>
              </a:rPr>
              <a:t>Баги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 и Ошибки БД и </a:t>
            </a:r>
            <a:r>
              <a:rPr lang="ru-RU" sz="1600" dirty="0" err="1" smtClean="0">
                <a:latin typeface="Arial" pitchFamily="34" charset="0"/>
                <a:cs typeface="Arial" pitchFamily="34" charset="0"/>
              </a:rPr>
              <a:t>тп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Локализация данных и соответствие 152-ФЗ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ru-RU" sz="11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Автоматические уведомления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Тестирование, </a:t>
            </a:r>
            <a:r>
              <a:rPr lang="ru-RU" sz="1600" dirty="0" err="1" smtClean="0">
                <a:latin typeface="Arial" pitchFamily="34" charset="0"/>
                <a:cs typeface="Arial" pitchFamily="34" charset="0"/>
              </a:rPr>
              <a:t>логир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. и хранение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Блокировки и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VPN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Содержимое 5"/>
          <p:cNvSpPr txBox="1">
            <a:spLocks/>
          </p:cNvSpPr>
          <p:nvPr/>
        </p:nvSpPr>
        <p:spPr>
          <a:xfrm>
            <a:off x="4572000" y="3861048"/>
            <a:ext cx="4032448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400" dirty="0" smtClean="0">
                <a:latin typeface="Arial" pitchFamily="34" charset="0"/>
                <a:cs typeface="Arial" pitchFamily="34" charset="0"/>
              </a:rPr>
              <a:t>Подтверждение от мастера(состояние)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400" dirty="0" smtClean="0">
                <a:latin typeface="Arial" pitchFamily="34" charset="0"/>
                <a:cs typeface="Arial" pitchFamily="34" charset="0"/>
              </a:rPr>
              <a:t>Блокировка записи</a:t>
            </a:r>
            <a:endParaRPr lang="ru-RU" sz="1200" spc="2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400" spc="20" dirty="0" smtClean="0">
                <a:latin typeface="Arial" pitchFamily="34" charset="0"/>
                <a:cs typeface="Arial" pitchFamily="34" charset="0"/>
              </a:rPr>
              <a:t>Нужно тестирование и </a:t>
            </a:r>
            <a:r>
              <a:rPr lang="ru-RU" sz="1400" spc="20" dirty="0" err="1" smtClean="0">
                <a:latin typeface="Arial" pitchFamily="34" charset="0"/>
                <a:cs typeface="Arial" pitchFamily="34" charset="0"/>
              </a:rPr>
              <a:t>ДеБаг</a:t>
            </a:r>
            <a:endParaRPr lang="ru-RU" sz="1400" spc="2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ru-RU" sz="1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400" dirty="0" smtClean="0">
                <a:latin typeface="Arial" pitchFamily="34" charset="0"/>
                <a:cs typeface="Arial" pitchFamily="34" charset="0"/>
              </a:rPr>
              <a:t>Изучение вопроса со специалистами</a:t>
            </a: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ru-RU" sz="1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В зависимости от проекта и хоста</a:t>
            </a:r>
          </a:p>
          <a:p>
            <a:pPr marL="342900" lvl="0" indent="-342900">
              <a:spcBef>
                <a:spcPct val="20000"/>
              </a:spcBef>
            </a:pPr>
            <a:r>
              <a:rPr lang="ru-RU" sz="1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Reg.ru </a:t>
            </a:r>
            <a:r>
              <a:rPr lang="ru-RU" sz="1400" dirty="0" smtClean="0">
                <a:latin typeface="Arial" pitchFamily="34" charset="0"/>
                <a:cs typeface="Arial" pitchFamily="34" charset="0"/>
              </a:rPr>
              <a:t>там по договору и разобраться 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N8N</a:t>
            </a:r>
            <a:r>
              <a:rPr lang="ru-RU" sz="1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Зависит от проекта(на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Yandex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Cloud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1600" dirty="0" smtClean="0">
                <a:latin typeface="Arial" pitchFamily="34" charset="0"/>
                <a:cs typeface="Arial" pitchFamily="34" charset="0"/>
              </a:rPr>
              <a:t>Сторонние сервисы</a:t>
            </a:r>
            <a:r>
              <a:rPr lang="ru-RU" sz="1400" dirty="0" smtClean="0">
                <a:latin typeface="Arial" pitchFamily="34" charset="0"/>
                <a:cs typeface="Arial" pitchFamily="34" charset="0"/>
              </a:rPr>
              <a:t>(Казахстан домен)</a:t>
            </a: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ru-RU" sz="4800" dirty="0" smtClean="0">
                <a:latin typeface="Arial" pitchFamily="34" charset="0"/>
                <a:cs typeface="Arial" pitchFamily="34" charset="0"/>
              </a:rPr>
              <a:t>Планы Развития(Доработки)</a:t>
            </a:r>
            <a:endParaRPr lang="ru-RU" sz="4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r>
              <a:rPr lang="ru-RU" sz="2800" dirty="0" smtClean="0">
                <a:latin typeface="Arial" pitchFamily="34" charset="0"/>
                <a:cs typeface="Arial" pitchFamily="34" charset="0"/>
              </a:rPr>
              <a:t>Добавление автоматических уведомлений</a:t>
            </a:r>
          </a:p>
          <a:p>
            <a:r>
              <a:rPr lang="ru-RU" sz="2800" dirty="0" smtClean="0">
                <a:latin typeface="Arial" pitchFamily="34" charset="0"/>
                <a:cs typeface="Arial" pitchFamily="34" charset="0"/>
              </a:rPr>
              <a:t>Синхронизация с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Google-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календарем</a:t>
            </a:r>
          </a:p>
          <a:p>
            <a:r>
              <a:rPr lang="ru-RU" sz="2800" dirty="0" smtClean="0">
                <a:latin typeface="Arial" pitchFamily="34" charset="0"/>
                <a:cs typeface="Arial" pitchFamily="34" charset="0"/>
              </a:rPr>
              <a:t>Резервное копирование данных</a:t>
            </a:r>
          </a:p>
          <a:p>
            <a:r>
              <a:rPr lang="ru-RU" sz="2800" dirty="0" err="1" smtClean="0">
                <a:latin typeface="Arial" pitchFamily="34" charset="0"/>
                <a:cs typeface="Arial" pitchFamily="34" charset="0"/>
              </a:rPr>
              <a:t>Админ-панель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 и </a:t>
            </a:r>
            <a:r>
              <a:rPr lang="ru-RU" sz="2800" dirty="0" err="1" smtClean="0">
                <a:latin typeface="Arial" pitchFamily="34" charset="0"/>
                <a:cs typeface="Arial" pitchFamily="34" charset="0"/>
              </a:rPr>
              <a:t>веб-интерфейс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2800" dirty="0" smtClean="0">
                <a:latin typeface="Arial" pitchFamily="34" charset="0"/>
                <a:cs typeface="Arial" pitchFamily="34" charset="0"/>
              </a:rPr>
              <a:t>Интеграция с другими сервисами и Соц.Сетями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VK,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WhatsApp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Instagram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и </a:t>
            </a:r>
            <a:r>
              <a:rPr lang="ru-RU" sz="2800" dirty="0" err="1" smtClean="0">
                <a:latin typeface="Arial" pitchFamily="34" charset="0"/>
                <a:cs typeface="Arial" pitchFamily="34" charset="0"/>
              </a:rPr>
              <a:t>тп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5400" dirty="0" smtClean="0">
                <a:latin typeface="Arial" pitchFamily="34" charset="0"/>
                <a:cs typeface="Arial" pitchFamily="34" charset="0"/>
              </a:rPr>
              <a:t>Итоги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4680520"/>
          </a:xfrm>
        </p:spPr>
        <p:txBody>
          <a:bodyPr>
            <a:normAutofit/>
          </a:bodyPr>
          <a:lstStyle/>
          <a:p>
            <a:pPr marL="180000" indent="0">
              <a:spcBef>
                <a:spcPts val="600"/>
              </a:spcBef>
              <a:buNone/>
            </a:pPr>
            <a:r>
              <a:rPr lang="ru-RU" sz="2800" kern="1000" dirty="0" smtClean="0">
                <a:latin typeface="Arial" pitchFamily="34" charset="0"/>
                <a:cs typeface="Arial" pitchFamily="34" charset="0"/>
              </a:rPr>
              <a:t>Проект полностью работоспособен и готов к  внедрению. Он решает реальную проблему бизнеса, имеет задел для масштабирования, будет развиваться дальше после тестирования и с учетом обратной связи.</a:t>
            </a:r>
          </a:p>
          <a:p>
            <a:pPr marL="180000" indent="0">
              <a:spcBef>
                <a:spcPts val="600"/>
              </a:spcBef>
              <a:buNone/>
            </a:pPr>
            <a:r>
              <a:rPr lang="en-US" b="1" u="sng" kern="1000" dirty="0" smtClean="0">
                <a:latin typeface="Arial" pitchFamily="34" charset="0"/>
                <a:cs typeface="Arial" pitchFamily="34" charset="0"/>
              </a:rPr>
              <a:t>GIT</a:t>
            </a:r>
          </a:p>
          <a:p>
            <a:pPr marL="180000" indent="0">
              <a:spcBef>
                <a:spcPts val="600"/>
              </a:spcBef>
              <a:buNone/>
            </a:pPr>
            <a:r>
              <a:rPr lang="en-US" kern="1000" dirty="0" smtClean="0">
                <a:latin typeface="Arial" pitchFamily="34" charset="0"/>
                <a:cs typeface="Arial" pitchFamily="34" charset="0"/>
                <a:hlinkClick r:id="rId2"/>
              </a:rPr>
              <a:t>https://github.com/Vigitoreanec/ApiManicureStudio</a:t>
            </a:r>
            <a:endParaRPr lang="en-US" kern="1000" dirty="0" smtClean="0">
              <a:latin typeface="Arial" pitchFamily="34" charset="0"/>
              <a:cs typeface="Arial" pitchFamily="34" charset="0"/>
            </a:endParaRPr>
          </a:p>
          <a:p>
            <a:pPr marL="180000" indent="0">
              <a:spcBef>
                <a:spcPts val="600"/>
              </a:spcBef>
              <a:buNone/>
            </a:pPr>
            <a:endParaRPr lang="ru-RU" sz="2800" kern="1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716</Words>
  <Application>Microsoft Office PowerPoint</Application>
  <PresentationFormat>Экран (4:3)</PresentationFormat>
  <Paragraphs>258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Проект «Маникюрная студия»</vt:lpstr>
      <vt:lpstr>Основные преимущества </vt:lpstr>
      <vt:lpstr>Недостатки</vt:lpstr>
      <vt:lpstr>🛠 Стек технологий:</vt:lpstr>
      <vt:lpstr>NuGet пакеты</vt:lpstr>
      <vt:lpstr>Структура проекта  </vt:lpstr>
      <vt:lpstr>Слайд 7</vt:lpstr>
      <vt:lpstr>Схема базы данных </vt:lpstr>
      <vt:lpstr>Структура REST API </vt:lpstr>
      <vt:lpstr>ClientsController</vt:lpstr>
      <vt:lpstr>MastersController</vt:lpstr>
      <vt:lpstr>ServicesController</vt:lpstr>
      <vt:lpstr>AppointmentController</vt:lpstr>
      <vt:lpstr>Блок-схема</vt:lpstr>
      <vt:lpstr>Заключение</vt:lpstr>
      <vt:lpstr>Планы Развития(Доработки)</vt:lpstr>
      <vt:lpstr>Итоги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«Маникюрная студия»</dc:title>
  <dc:creator>Sergey</dc:creator>
  <cp:lastModifiedBy>Sergey</cp:lastModifiedBy>
  <cp:revision>45</cp:revision>
  <dcterms:created xsi:type="dcterms:W3CDTF">2026-06-05T17:32:19Z</dcterms:created>
  <dcterms:modified xsi:type="dcterms:W3CDTF">2026-07-03T22:11:52Z</dcterms:modified>
</cp:coreProperties>
</file>